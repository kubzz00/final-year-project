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272" r:id="rId2"/>
    <p:sldId id="270" r:id="rId3"/>
    <p:sldId id="271" r:id="rId4"/>
    <p:sldId id="258" r:id="rId5"/>
    <p:sldId id="260" r:id="rId6"/>
    <p:sldId id="261" r:id="rId7"/>
    <p:sldId id="274" r:id="rId8"/>
    <p:sldId id="263" r:id="rId9"/>
    <p:sldId id="264" r:id="rId10"/>
    <p:sldId id="265" r:id="rId11"/>
    <p:sldId id="267" r:id="rId12"/>
    <p:sldId id="273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749"/>
    <a:srgbClr val="F36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24" autoAdjust="0"/>
    <p:restoredTop sz="94660"/>
  </p:normalViewPr>
  <p:slideViewPr>
    <p:cSldViewPr>
      <p:cViewPr varScale="1">
        <p:scale>
          <a:sx n="152" d="100"/>
          <a:sy n="152" d="100"/>
        </p:scale>
        <p:origin x="1181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9C45DF-8041-4DCA-8429-BF190728F8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9A18F-C42D-4C53-B56F-C591353194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4181D-5C98-4ACF-93E4-94920DC18D97}" type="datetimeFigureOut">
              <a:rPr lang="en-IE" smtClean="0"/>
              <a:t>13/04/2026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F03E2-A2B4-4924-98B0-463F429108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D44C-CC91-4EED-B22A-AF0AA6930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50F9B-6758-4641-AC7E-139CDBC2C4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624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28B10-01B1-489D-B962-DD80D2263B82}" type="datetimeFigureOut">
              <a:rPr lang="en-IE" smtClean="0"/>
              <a:pPr/>
              <a:t>13/04/2026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55FEB-D5E4-4A1E-87F4-37E283567B6E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23651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8243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6597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821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928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0096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5831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942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3121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35431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03034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8367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5902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155FEB-D5E4-4A1E-87F4-37E283567B6E}" type="slidenum">
              <a:rPr lang="en-IE" smtClean="0"/>
              <a:pPr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8695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75000"/>
                    <a:lumOff val="2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1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513" y="2876550"/>
            <a:ext cx="4787901" cy="301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  <a:endParaRPr lang="en-GB" altLang="en-US" noProof="0"/>
          </a:p>
        </p:txBody>
      </p:sp>
      <p:sp>
        <p:nvSpPr>
          <p:cNvPr id="32780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GB" altLang="en-US" noProof="0"/>
          </a:p>
        </p:txBody>
      </p:sp>
      <p:sp>
        <p:nvSpPr>
          <p:cNvPr id="11" name="Date Placeholder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0D53F2-6605-491B-A522-26FC2F4F9BCD}" type="datetime1">
              <a:rPr lang="en-US" smtClean="0"/>
              <a:t>4/13/2026</a:t>
            </a:fld>
            <a:endParaRPr lang="en-US"/>
          </a:p>
        </p:txBody>
      </p:sp>
      <p:sp>
        <p:nvSpPr>
          <p:cNvPr id="12" name="Footer Placeholder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3" name="Slide Number Placeholder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5000"/>
            <a:ext cx="7693025" cy="418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2CCA16-2DDB-40B9-9F54-A095905B077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8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DF457-5724-4B26-A4C4-59D64F3AB24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4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3770313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1828800"/>
            <a:ext cx="3770312" cy="4257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F1AC6-D369-4639-99E9-4FF457440EA0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2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CFB202-6EFB-4907-8D9D-680BD149527A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62A42C-DE72-47AA-BBAF-B081607E035C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0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5CFB85-5351-4D3E-B4CE-B0F17214F29F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93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A57C7F-E9A1-4E64-8A30-05C3992913B8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3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8E544F-E88E-4EB1-8D10-5091A0506034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3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E2F5F-ADB1-4FC5-9086-0BE59847FEFA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7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825EC-483B-45E9-8C22-E036CF677E1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2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3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1036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IE" altLang="en-US"/>
            </a:p>
          </p:txBody>
        </p:sp>
        <p:sp>
          <p:nvSpPr>
            <p:cNvPr id="1037" name="Freeform 5"/>
            <p:cNvSpPr>
              <a:spLocks/>
            </p:cNvSpPr>
            <p:nvPr/>
          </p:nvSpPr>
          <p:spPr bwMode="auto">
            <a:xfrm>
              <a:off x="288" y="0"/>
              <a:ext cx="1728" cy="735"/>
            </a:xfrm>
            <a:custGeom>
              <a:avLst/>
              <a:gdLst>
                <a:gd name="T0" fmla="*/ 1728 w 1728"/>
                <a:gd name="T1" fmla="*/ 0 h 735"/>
                <a:gd name="T2" fmla="*/ 1728 w 1728"/>
                <a:gd name="T3" fmla="*/ 480 h 735"/>
                <a:gd name="T4" fmla="*/ 380 w 1728"/>
                <a:gd name="T5" fmla="*/ 482 h 735"/>
                <a:gd name="T6" fmla="*/ 354 w 1728"/>
                <a:gd name="T7" fmla="*/ 480 h 735"/>
                <a:gd name="T8" fmla="*/ 308 w 1728"/>
                <a:gd name="T9" fmla="*/ 489 h 735"/>
                <a:gd name="T10" fmla="*/ 246 w 1728"/>
                <a:gd name="T11" fmla="*/ 531 h 735"/>
                <a:gd name="T12" fmla="*/ 206 w 1728"/>
                <a:gd name="T13" fmla="*/ 597 h 735"/>
                <a:gd name="T14" fmla="*/ 192 w 1728"/>
                <a:gd name="T15" fmla="*/ 666 h 735"/>
                <a:gd name="T16" fmla="*/ 192 w 1728"/>
                <a:gd name="T17" fmla="*/ 735 h 735"/>
                <a:gd name="T18" fmla="*/ 0 w 1728"/>
                <a:gd name="T19" fmla="*/ 735 h 735"/>
                <a:gd name="T20" fmla="*/ 0 w 1728"/>
                <a:gd name="T21" fmla="*/ 480 h 735"/>
                <a:gd name="T22" fmla="*/ 0 w 1728"/>
                <a:gd name="T23" fmla="*/ 0 h 735"/>
                <a:gd name="T24" fmla="*/ 1728 w 1728"/>
                <a:gd name="T25" fmla="*/ 0 h 73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8" h="735">
                  <a:moveTo>
                    <a:pt x="1728" y="0"/>
                  </a:moveTo>
                  <a:lnTo>
                    <a:pt x="1728" y="480"/>
                  </a:lnTo>
                  <a:lnTo>
                    <a:pt x="380" y="482"/>
                  </a:lnTo>
                  <a:lnTo>
                    <a:pt x="354" y="480"/>
                  </a:lnTo>
                  <a:lnTo>
                    <a:pt x="308" y="489"/>
                  </a:lnTo>
                  <a:cubicBezTo>
                    <a:pt x="290" y="498"/>
                    <a:pt x="263" y="513"/>
                    <a:pt x="246" y="531"/>
                  </a:cubicBezTo>
                  <a:cubicBezTo>
                    <a:pt x="229" y="549"/>
                    <a:pt x="215" y="574"/>
                    <a:pt x="206" y="597"/>
                  </a:cubicBezTo>
                  <a:cubicBezTo>
                    <a:pt x="197" y="620"/>
                    <a:pt x="194" y="643"/>
                    <a:pt x="192" y="666"/>
                  </a:cubicBezTo>
                  <a:lnTo>
                    <a:pt x="192" y="735"/>
                  </a:lnTo>
                  <a:lnTo>
                    <a:pt x="0" y="735"/>
                  </a:lnTo>
                  <a:lnTo>
                    <a:pt x="0" y="480"/>
                  </a:lnTo>
                  <a:lnTo>
                    <a:pt x="0" y="0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E"/>
            </a:p>
          </p:txBody>
        </p: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53035" y="200025"/>
            <a:ext cx="7924800" cy="1143000"/>
          </a:xfrm>
          <a:prstGeom prst="roundRect">
            <a:avLst>
              <a:gd name="adj" fmla="val 21667"/>
            </a:avLst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317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2BBC70F-B5CB-4B78-BD55-A2A1CC49D82A}" type="datetime1">
              <a:rPr lang="en-US" smtClean="0"/>
              <a:t>4/13/2026</a:t>
            </a:fld>
            <a:endParaRPr lang="en-US"/>
          </a:p>
        </p:txBody>
      </p:sp>
      <p:sp>
        <p:nvSpPr>
          <p:cNvPr id="317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17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2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3200" smtClean="0"/>
              <a:pPr/>
              <a:t>1</a:t>
            </a:fld>
            <a:endParaRPr lang="en-US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998948-0823-4824-950E-E653CEAE0C77}"/>
              </a:ext>
            </a:extLst>
          </p:cNvPr>
          <p:cNvSpPr/>
          <p:nvPr/>
        </p:nvSpPr>
        <p:spPr>
          <a:xfrm>
            <a:off x="1066800" y="1795530"/>
            <a:ext cx="1600200" cy="41563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30 Mins</a:t>
            </a: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Interim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</a:rPr>
              <a:t>Slot</a:t>
            </a:r>
            <a:endParaRPr lang="en-IE" sz="3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7CF05-F508-408F-A625-A4CCBE808D31}"/>
              </a:ext>
            </a:extLst>
          </p:cNvPr>
          <p:cNvSpPr/>
          <p:nvPr/>
        </p:nvSpPr>
        <p:spPr>
          <a:xfrm>
            <a:off x="2654531" y="1788929"/>
            <a:ext cx="1600200" cy="4156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 Mins</a:t>
            </a:r>
          </a:p>
          <a:p>
            <a:pPr algn="ctr"/>
            <a:r>
              <a:rPr lang="en-US" dirty="0"/>
              <a:t>Online</a:t>
            </a:r>
            <a:endParaRPr lang="en-I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5C1302-2DDC-4A56-BBD7-024055FCFAEA}"/>
              </a:ext>
            </a:extLst>
          </p:cNvPr>
          <p:cNvSpPr/>
          <p:nvPr/>
        </p:nvSpPr>
        <p:spPr>
          <a:xfrm>
            <a:off x="4572000" y="1856087"/>
            <a:ext cx="1600200" cy="3096913"/>
          </a:xfrm>
          <a:prstGeom prst="rect">
            <a:avLst/>
          </a:prstGeom>
          <a:solidFill>
            <a:srgbClr val="E9C74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Max 20 Mins</a:t>
            </a:r>
          </a:p>
          <a:p>
            <a:pPr algn="ctr"/>
            <a:endParaRPr lang="en-US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Student</a:t>
            </a:r>
          </a:p>
          <a:p>
            <a:pPr algn="ctr"/>
            <a:r>
              <a:rPr lang="en-US" dirty="0">
                <a:solidFill>
                  <a:schemeClr val="tx1">
                    <a:lumMod val="60000"/>
                    <a:lumOff val="40000"/>
                  </a:schemeClr>
                </a:solidFill>
              </a:rPr>
              <a:t>Online</a:t>
            </a:r>
            <a:endParaRPr lang="en-IE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73998-A9EE-44E4-9CE5-E1407D4C35EB}"/>
              </a:ext>
            </a:extLst>
          </p:cNvPr>
          <p:cNvSpPr/>
          <p:nvPr/>
        </p:nvSpPr>
        <p:spPr>
          <a:xfrm>
            <a:off x="6529227" y="1856088"/>
            <a:ext cx="1600200" cy="92854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 – 6 Mins</a:t>
            </a:r>
          </a:p>
          <a:p>
            <a:pPr algn="ctr"/>
            <a:r>
              <a:rPr lang="en-US" dirty="0"/>
              <a:t>Presentation</a:t>
            </a:r>
            <a:endParaRPr lang="en-I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EDF33-F8E1-4375-B187-B819A503FE7C}"/>
              </a:ext>
            </a:extLst>
          </p:cNvPr>
          <p:cNvSpPr/>
          <p:nvPr/>
        </p:nvSpPr>
        <p:spPr>
          <a:xfrm>
            <a:off x="6529227" y="2865594"/>
            <a:ext cx="1600200" cy="61579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– 4 Mins</a:t>
            </a:r>
          </a:p>
          <a:p>
            <a:pPr algn="ctr"/>
            <a:r>
              <a:rPr lang="en-US" dirty="0"/>
              <a:t>Demo</a:t>
            </a:r>
            <a:endParaRPr lang="en-I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846211-06B4-4346-A40C-DF9DDE39CBED}"/>
              </a:ext>
            </a:extLst>
          </p:cNvPr>
          <p:cNvSpPr/>
          <p:nvPr/>
        </p:nvSpPr>
        <p:spPr>
          <a:xfrm>
            <a:off x="6529227" y="3562351"/>
            <a:ext cx="1600200" cy="1390649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 – 12 Mins</a:t>
            </a:r>
          </a:p>
          <a:p>
            <a:pPr algn="ctr"/>
            <a:r>
              <a:rPr lang="en-US" dirty="0"/>
              <a:t>Q+A</a:t>
            </a:r>
            <a:endParaRPr lang="en-IE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9C25F3-86C9-4F69-A82B-D86BD05CA323}"/>
              </a:ext>
            </a:extLst>
          </p:cNvPr>
          <p:cNvSpPr/>
          <p:nvPr/>
        </p:nvSpPr>
        <p:spPr>
          <a:xfrm>
            <a:off x="4571159" y="5057775"/>
            <a:ext cx="3557427" cy="9144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7C193-0D0E-4AD5-B6B2-F45F7E0FCA40}"/>
              </a:ext>
            </a:extLst>
          </p:cNvPr>
          <p:cNvSpPr/>
          <p:nvPr/>
        </p:nvSpPr>
        <p:spPr>
          <a:xfrm>
            <a:off x="4419600" y="1613626"/>
            <a:ext cx="3910174" cy="44823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733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2895600"/>
            <a:ext cx="4572000" cy="2285999"/>
          </a:xfrm>
        </p:spPr>
        <p:txBody>
          <a:bodyPr>
            <a:normAutofit fontScale="62500" lnSpcReduction="20000"/>
          </a:bodyPr>
          <a:lstStyle/>
          <a:p>
            <a:r>
              <a:rPr lang="en-IE" sz="4000" dirty="0"/>
              <a:t>Karl Negrillo</a:t>
            </a:r>
          </a:p>
          <a:p>
            <a:r>
              <a:rPr lang="en-IE" sz="4000" dirty="0"/>
              <a:t>C22386123</a:t>
            </a:r>
          </a:p>
          <a:p>
            <a:r>
              <a:rPr lang="en-IE" sz="4000" dirty="0"/>
              <a:t>TU858 Computer Science International</a:t>
            </a:r>
          </a:p>
          <a:p>
            <a:r>
              <a:rPr lang="en-IE" sz="4000" b="1" dirty="0"/>
              <a:t>Supervisor:</a:t>
            </a:r>
            <a:r>
              <a:rPr lang="en-IE" sz="4000" dirty="0"/>
              <a:t> Colette Kirwan</a:t>
            </a:r>
          </a:p>
          <a:p>
            <a:r>
              <a:rPr lang="en-IE" sz="4000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/>
          </a:bodyPr>
          <a:lstStyle/>
          <a:p>
            <a:r>
              <a:rPr lang="en-IE" dirty="0"/>
              <a:t>Sign &amp; Spell VR – Irish Sign Language Alphabet Practice</a:t>
            </a:r>
            <a:endParaRPr lang="en-IE" sz="6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7D612-3BDA-478B-89A2-43A49EE6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7226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Project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VR Application to support learning the Irish Sign Language (ISL) Alphabet through interactive practise. </a:t>
            </a:r>
          </a:p>
          <a:p>
            <a:r>
              <a:rPr lang="en-IE" dirty="0"/>
              <a:t>Uses hand tracking and real-time feedback to help users improve accuracy and engagement compared to traditional learning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0AD8D-EB1B-4F83-9125-EC3B343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571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Background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dirty="0"/>
              <a:t>Existing VR tools like </a:t>
            </a:r>
            <a:r>
              <a:rPr lang="en-GB" sz="1600" i="1" dirty="0"/>
              <a:t>ASL </a:t>
            </a:r>
            <a:r>
              <a:rPr lang="en-GB" sz="1600" i="1" dirty="0" err="1"/>
              <a:t>Fingerspeller</a:t>
            </a:r>
            <a:r>
              <a:rPr lang="en-GB" sz="1600" dirty="0"/>
              <a:t> and </a:t>
            </a:r>
            <a:r>
              <a:rPr lang="en-GB" sz="1600" i="1" dirty="0"/>
              <a:t>Silent Classroom VR</a:t>
            </a:r>
            <a:r>
              <a:rPr lang="en-GB" sz="1600" dirty="0"/>
              <a:t> show that immersive environments improve engagement, but focus mainly on American Sign Language </a:t>
            </a:r>
          </a:p>
          <a:p>
            <a:r>
              <a:rPr lang="en-GB" sz="1600" dirty="0"/>
              <a:t>Research (e.g. </a:t>
            </a:r>
            <a:r>
              <a:rPr lang="en-GB" sz="1600" dirty="0" err="1"/>
              <a:t>Novaliendry</a:t>
            </a:r>
            <a:r>
              <a:rPr lang="en-GB" sz="1600" dirty="0"/>
              <a:t> et al.) shows VR with real-time feedback increases learner confidence and effectiveness</a:t>
            </a:r>
          </a:p>
          <a:p>
            <a:r>
              <a:rPr lang="en-GB" sz="1600" dirty="0"/>
              <a:t>Applications like </a:t>
            </a:r>
            <a:r>
              <a:rPr lang="en-GB" sz="1600" i="1" dirty="0"/>
              <a:t>ASL Champ!</a:t>
            </a:r>
            <a:r>
              <a:rPr lang="en-GB" sz="1600" dirty="0"/>
              <a:t> demonstrate the importance of immediate feedback for skill improvement</a:t>
            </a:r>
          </a:p>
          <a:p>
            <a:r>
              <a:rPr lang="en-GB" sz="1600" dirty="0"/>
              <a:t>Ethical Approach: Designed with Deaf community input, respects ISL cultural significance &amp; accuracy (vs avatars as substitute)</a:t>
            </a:r>
            <a:endParaRPr lang="en-IE" sz="1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321B27-4050-442D-99CE-3A934160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3</a:t>
            </a:r>
          </a:p>
        </p:txBody>
      </p:sp>
      <p:pic>
        <p:nvPicPr>
          <p:cNvPr id="7" name="Picture 4" descr="ASL Fingerspeller on Quest 2">
            <a:extLst>
              <a:ext uri="{FF2B5EF4-FFF2-40B4-BE49-F238E27FC236}">
                <a16:creationId xmlns:a16="http://schemas.microsoft.com/office/drawing/2014/main" id="{76C31177-8E10-5DA9-B3F8-445285FA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89" y="4648200"/>
            <a:ext cx="3137408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Screenshot">
            <a:extLst>
              <a:ext uri="{FF2B5EF4-FFF2-40B4-BE49-F238E27FC236}">
                <a16:creationId xmlns:a16="http://schemas.microsoft.com/office/drawing/2014/main" id="{6F8E675C-FAF0-D8F9-CA9B-9C95ADB9E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648200"/>
            <a:ext cx="3137408" cy="176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Methodology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447800"/>
            <a:ext cx="7693025" cy="4638675"/>
          </a:xfrm>
        </p:spPr>
        <p:txBody>
          <a:bodyPr>
            <a:normAutofit/>
          </a:bodyPr>
          <a:lstStyle/>
          <a:p>
            <a:r>
              <a:rPr lang="en-IE" dirty="0"/>
              <a:t>Incremental Model</a:t>
            </a:r>
          </a:p>
          <a:p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C606D-6BC2-428F-9187-FAC66256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4</a:t>
            </a:r>
          </a:p>
        </p:txBody>
      </p:sp>
      <p:pic>
        <p:nvPicPr>
          <p:cNvPr id="4" name="Picture 2" descr="Incremental Model of Software Development Life Cycle – Custom Web &amp; Mobile  Development Company – New Line Technologies">
            <a:extLst>
              <a:ext uri="{FF2B5EF4-FFF2-40B4-BE49-F238E27FC236}">
                <a16:creationId xmlns:a16="http://schemas.microsoft.com/office/drawing/2014/main" id="{35229AC1-924D-831A-9EDA-480EAFD08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484" y="2362200"/>
            <a:ext cx="6306455" cy="334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Technologies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447800"/>
            <a:ext cx="7693025" cy="4638675"/>
          </a:xfrm>
        </p:spPr>
        <p:txBody>
          <a:bodyPr>
            <a:normAutofit/>
          </a:bodyPr>
          <a:lstStyle/>
          <a:p>
            <a:r>
              <a:rPr lang="en-IE" b="1" dirty="0"/>
              <a:t>Operating Systems(s): </a:t>
            </a:r>
            <a:r>
              <a:rPr lang="en-IE" dirty="0"/>
              <a:t>Meta Quest 3/3S (VR headset OS)</a:t>
            </a:r>
          </a:p>
          <a:p>
            <a:r>
              <a:rPr lang="en-IE" b="1" dirty="0"/>
              <a:t>Programming Language(s): </a:t>
            </a:r>
            <a:r>
              <a:rPr lang="en-IE" dirty="0" err="1"/>
              <a:t>GDScript</a:t>
            </a:r>
            <a:r>
              <a:rPr lang="en-IE" dirty="0"/>
              <a:t> </a:t>
            </a:r>
          </a:p>
          <a:p>
            <a:r>
              <a:rPr lang="en-IE" b="1" dirty="0"/>
              <a:t>XR Framework: </a:t>
            </a:r>
            <a:r>
              <a:rPr lang="en-IE" dirty="0" err="1"/>
              <a:t>OpenXR</a:t>
            </a:r>
            <a:endParaRPr lang="en-IE" b="1" dirty="0"/>
          </a:p>
          <a:p>
            <a:r>
              <a:rPr lang="en-IE" b="1" dirty="0"/>
              <a:t>Game Engine: </a:t>
            </a:r>
            <a:r>
              <a:rPr lang="en-IE" dirty="0"/>
              <a:t>Godot 4</a:t>
            </a:r>
            <a:endParaRPr lang="en-IE" b="1" dirty="0"/>
          </a:p>
          <a:p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28409-768D-4542-B74C-F853395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5</a:t>
            </a:r>
          </a:p>
        </p:txBody>
      </p:sp>
      <p:pic>
        <p:nvPicPr>
          <p:cNvPr id="4" name="Picture 8" descr="Meta Quest 3 vs. Meta Quest 3S: Save Your Money or Upgrade Now? -  Comparison 2025 - PCMag UK">
            <a:extLst>
              <a:ext uri="{FF2B5EF4-FFF2-40B4-BE49-F238E27FC236}">
                <a16:creationId xmlns:a16="http://schemas.microsoft.com/office/drawing/2014/main" id="{88FA11A8-80CD-FDA3-D07C-B8E108A9F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687" y="4008862"/>
            <a:ext cx="3970114" cy="223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Godot Engine - YouTube">
            <a:extLst>
              <a:ext uri="{FF2B5EF4-FFF2-40B4-BE49-F238E27FC236}">
                <a16:creationId xmlns:a16="http://schemas.microsoft.com/office/drawing/2014/main" id="{34619417-AA21-757A-FB90-077BC5AE6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62400"/>
            <a:ext cx="2279650" cy="227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42A8-8A28-41EB-AC07-01CCC938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B62F4-3BA1-4F10-9936-9DE8C70A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000" b="1" dirty="0"/>
              <a:t>Requirements</a:t>
            </a:r>
          </a:p>
          <a:p>
            <a:pPr lvl="1"/>
            <a:r>
              <a:rPr lang="en-IE" sz="1600" b="1" dirty="0"/>
              <a:t>Stakeholder Interviews: </a:t>
            </a:r>
            <a:r>
              <a:rPr lang="en-IE" sz="1600" dirty="0"/>
              <a:t>Learners, Deaf Community, Teachers</a:t>
            </a:r>
          </a:p>
          <a:p>
            <a:r>
              <a:rPr lang="en-IE" sz="2000" b="1" dirty="0"/>
              <a:t>Functional</a:t>
            </a:r>
          </a:p>
          <a:p>
            <a:pPr lvl="1"/>
            <a:r>
              <a:rPr lang="en-IE" sz="1600" dirty="0"/>
              <a:t>Hand Tracking, Sign Recognition, Feedback</a:t>
            </a:r>
          </a:p>
          <a:p>
            <a:r>
              <a:rPr lang="en-IE" sz="2000" b="1" dirty="0"/>
              <a:t>Non-Functional</a:t>
            </a:r>
          </a:p>
          <a:p>
            <a:pPr lvl="1"/>
            <a:r>
              <a:rPr lang="en-IE" sz="1600" dirty="0"/>
              <a:t>Low Latency, accessible UI, intuitive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FE05-B9DF-4B70-B764-FFB94162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6" name="Picture 5" descr="The image depicts a diagram illustrating the Sign &amp; Spell VR learning process, featuring elements like hand tracking, user practice, sign recognition, and feedback on results.&#10;&#10;AI-generated content may be incorrect.">
            <a:extLst>
              <a:ext uri="{FF2B5EF4-FFF2-40B4-BE49-F238E27FC236}">
                <a16:creationId xmlns:a16="http://schemas.microsoft.com/office/drawing/2014/main" id="{4FA1F94C-470A-B2C0-D010-A3C90E0DA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4038600"/>
            <a:ext cx="3581400" cy="25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8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3035" y="200025"/>
            <a:ext cx="7924800" cy="1143000"/>
          </a:xfrm>
        </p:spPr>
        <p:txBody>
          <a:bodyPr wrap="square" anchor="b">
            <a:normAutofit/>
          </a:bodyPr>
          <a:lstStyle/>
          <a:p>
            <a:r>
              <a:rPr lang="en-IE" dirty="0"/>
              <a:t>Technical Architecture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3770313" cy="4257675"/>
          </a:xfrm>
        </p:spPr>
        <p:txBody>
          <a:bodyPr wrap="square" anchor="t">
            <a:normAutofit/>
          </a:bodyPr>
          <a:lstStyle/>
          <a:p>
            <a:r>
              <a:rPr lang="en-IE" dirty="0"/>
              <a:t>Standalone VR application on Meta Quest 3/3S</a:t>
            </a:r>
          </a:p>
          <a:p>
            <a:r>
              <a:rPr lang="en-GB" dirty="0"/>
              <a:t>Hand tracking → Recognition → Feedback → </a:t>
            </a:r>
            <a:br>
              <a:rPr lang="en-GB" dirty="0"/>
            </a:br>
            <a:r>
              <a:rPr lang="en-GB" dirty="0"/>
              <a:t>Test</a:t>
            </a:r>
          </a:p>
          <a:p>
            <a:r>
              <a:rPr lang="en-IE" dirty="0"/>
              <a:t>Data Flow Diagram</a:t>
            </a:r>
          </a:p>
        </p:txBody>
      </p:sp>
      <p:pic>
        <p:nvPicPr>
          <p:cNvPr id="7" name="Picture 6" descr="The image depicts a user interaction flow diagram illustrating a hand input process, including hand pose recognition, signal processing, data lookup, and feedback mechanisms, culminating in performance testing.&#10;&#10;AI-generated content may be incorrect.">
            <a:extLst>
              <a:ext uri="{FF2B5EF4-FFF2-40B4-BE49-F238E27FC236}">
                <a16:creationId xmlns:a16="http://schemas.microsoft.com/office/drawing/2014/main" id="{2E2DD650-B131-2D3D-1F22-395AC307A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913" y="2444800"/>
            <a:ext cx="3770312" cy="3025675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7210B-D885-46FD-A5A2-A3B7FEA3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Front End Design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3B1A3-2139-4788-9A25-64DED03B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7912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648200"/>
            <a:ext cx="1981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b="1" dirty="0"/>
              <a:t>Optional:</a:t>
            </a:r>
          </a:p>
          <a:p>
            <a:pPr algn="ctr"/>
            <a:r>
              <a:rPr lang="en-IE" dirty="0"/>
              <a:t>Use case or prototype screens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59583F9-4AF5-8743-2586-3BA236142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265012"/>
            <a:ext cx="783963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Main – Learning Scene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VR → sees main menu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Mode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hand gestures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shows letter + model + instructions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copies the sign → gets live feedback (❌ / ⚠️ / ✅)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Holds correct sign → progresses to next letter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Completes letter → thumbs up gesture to return to menu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Scene</a:t>
            </a:r>
          </a:p>
          <a:p>
            <a:pPr marL="0" lvl="0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Prompts a letter to sign</a:t>
            </a:r>
          </a:p>
          <a:p>
            <a:pPr marL="0" lvl="0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Holds the letter</a:t>
            </a:r>
          </a:p>
          <a:p>
            <a:pPr marL="0" lvl="0" indent="0" eaLnBrk="0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At the end, checks the score and see what is wrong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Middle Tier Design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b="1" dirty="0"/>
              <a:t>Hand Pose Detection: </a:t>
            </a:r>
            <a:r>
              <a:rPr lang="en-GB" dirty="0" err="1"/>
              <a:t>OpenXR</a:t>
            </a:r>
            <a:r>
              <a:rPr lang="en-GB" dirty="0"/>
              <a:t> sensors detect finger positions in real-time</a:t>
            </a:r>
          </a:p>
          <a:p>
            <a:r>
              <a:rPr lang="en-GB" b="1" dirty="0"/>
              <a:t>Gesture Matching: </a:t>
            </a:r>
            <a:r>
              <a:rPr lang="en-GB" dirty="0"/>
              <a:t>Compare user hand pose to stored ISL sign database</a:t>
            </a:r>
          </a:p>
          <a:p>
            <a:r>
              <a:rPr lang="en-GB" b="1" dirty="0"/>
              <a:t>Confidence Validation: </a:t>
            </a:r>
            <a:r>
              <a:rPr lang="en-GB" dirty="0"/>
              <a:t>Check if pose matches threshold for correct/incorrect</a:t>
            </a:r>
          </a:p>
          <a:p>
            <a:r>
              <a:rPr lang="en-GB" b="1" dirty="0"/>
              <a:t>Real-time Feedback: </a:t>
            </a:r>
            <a:r>
              <a:rPr lang="en-GB" dirty="0"/>
              <a:t>Generate visual feedback (correct/try again) instantly</a:t>
            </a:r>
          </a:p>
          <a:p>
            <a:r>
              <a:rPr lang="en-GB" b="1" dirty="0"/>
              <a:t>Rule-based recognition: </a:t>
            </a:r>
            <a:r>
              <a:rPr lang="en-GB" dirty="0"/>
              <a:t>simpler, faster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5EFD2-690F-416A-90A7-FB126B5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DEMO HERE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sz="4800" dirty="0"/>
          </a:p>
          <a:p>
            <a:r>
              <a:rPr lang="en-IE" sz="4800" dirty="0"/>
              <a:t>DEMO HERE</a:t>
            </a:r>
          </a:p>
          <a:p>
            <a:endParaRPr lang="en-IE" sz="4800" dirty="0"/>
          </a:p>
          <a:p>
            <a:r>
              <a:rPr lang="en-IE" sz="4800" dirty="0"/>
              <a:t>Small parts of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Evaluation Criteria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dirty="0"/>
              <a:t>&lt;</a:t>
            </a:r>
            <a:r>
              <a:rPr lang="en-IE" sz="2800" i="1" dirty="0"/>
              <a:t>Suggest how you will know whether or not your development was a success&gt;</a:t>
            </a:r>
          </a:p>
          <a:p>
            <a:endParaRPr lang="en-IE" sz="2800" i="1" dirty="0"/>
          </a:p>
          <a:p>
            <a:r>
              <a:rPr lang="en-IE" sz="2800" i="1" dirty="0"/>
              <a:t>&lt;Testing is part of this, but is there anything else?&gt;</a:t>
            </a:r>
            <a:endParaRPr lang="en-IE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B0CF0-69F7-41D7-8F4E-189973F9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71751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Future Work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2800" i="1" dirty="0"/>
              <a:t>Implement all the letters</a:t>
            </a:r>
          </a:p>
          <a:p>
            <a:r>
              <a:rPr lang="en-IE" i="1" dirty="0"/>
              <a:t>Find a way to implement motion</a:t>
            </a:r>
          </a:p>
          <a:p>
            <a:r>
              <a:rPr lang="en-IE" sz="2800" i="1" dirty="0"/>
              <a:t>Implement phrases and sentence structures</a:t>
            </a:r>
          </a:p>
          <a:p>
            <a:r>
              <a:rPr lang="en-IE" i="1" dirty="0"/>
              <a:t>Improve confidence checks for feedback</a:t>
            </a:r>
          </a:p>
          <a:p>
            <a:r>
              <a:rPr lang="en-IE" sz="2800" i="1" dirty="0"/>
              <a:t>Get companies to help out in improving the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4F288E-5052-4564-92DB-EA28C179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4400" b="1" dirty="0"/>
              <a:t>Thank you!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endParaRPr lang="en-IE" sz="6000" b="1" dirty="0"/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  <a:p>
            <a:pPr algn="ctr">
              <a:buNone/>
            </a:pPr>
            <a:r>
              <a:rPr lang="en-IE" sz="6000" b="1" dirty="0"/>
              <a:t>Questions</a:t>
            </a:r>
          </a:p>
          <a:p>
            <a:pPr algn="ctr">
              <a:buNone/>
            </a:pPr>
            <a:r>
              <a:rPr lang="en-IE" sz="6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8A318-D7FA-4F41-817A-AE7587DE0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3200"/>
              <a:t>13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t249 hdp">
  <a:themeElements>
    <a:clrScheme name="Custom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33CCCC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t249 hdp" id="{B2D366DE-A7C3-47B7-8728-22E4F28179ED}" vid="{FC4E48D8-D856-40E5-A18A-0681BF8403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dt249 hdp</Template>
  <TotalTime>414</TotalTime>
  <Words>512</Words>
  <Application>Microsoft Office PowerPoint</Application>
  <PresentationFormat>On-screen Show (4:3)</PresentationFormat>
  <Paragraphs>121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dt249 hdp</vt:lpstr>
      <vt:lpstr>Advice</vt:lpstr>
      <vt:lpstr>Sign &amp; Spell VR – Irish Sign Language Alphabet Practice</vt:lpstr>
      <vt:lpstr>Project</vt:lpstr>
      <vt:lpstr>Background</vt:lpstr>
      <vt:lpstr>Methodology</vt:lpstr>
      <vt:lpstr>Technologies</vt:lpstr>
      <vt:lpstr>System Requirements</vt:lpstr>
      <vt:lpstr>Technical Architecture</vt:lpstr>
      <vt:lpstr>Front End Design</vt:lpstr>
      <vt:lpstr>Middle Tier Design</vt:lpstr>
      <vt:lpstr>DEMO HERE</vt:lpstr>
      <vt:lpstr>Evaluation Criteria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&lt;Project Title&gt;</dc:title>
  <dc:creator>Ciaran Kelly</dc:creator>
  <cp:lastModifiedBy>C22386123 Karl Negrillo</cp:lastModifiedBy>
  <cp:revision>33</cp:revision>
  <dcterms:created xsi:type="dcterms:W3CDTF">2006-08-16T00:00:00Z</dcterms:created>
  <dcterms:modified xsi:type="dcterms:W3CDTF">2026-04-13T14:06:18Z</dcterms:modified>
</cp:coreProperties>
</file>