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handoutMasterIdLst>
    <p:handoutMasterId r:id="rId17"/>
  </p:handoutMasterIdLst>
  <p:sldIdLst>
    <p:sldId id="270" r:id="rId2"/>
    <p:sldId id="271" r:id="rId3"/>
    <p:sldId id="258" r:id="rId4"/>
    <p:sldId id="260" r:id="rId5"/>
    <p:sldId id="275" r:id="rId6"/>
    <p:sldId id="276" r:id="rId7"/>
    <p:sldId id="277" r:id="rId8"/>
    <p:sldId id="264" r:id="rId9"/>
    <p:sldId id="265" r:id="rId10"/>
    <p:sldId id="266" r:id="rId11"/>
    <p:sldId id="267" r:id="rId12"/>
    <p:sldId id="273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" y="6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9C45DF-8041-4DCA-8429-BF190728F8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89A18F-C42D-4C53-B56F-C5913531946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4181D-5C98-4ACF-93E4-94920DC18D97}" type="datetimeFigureOut">
              <a:rPr lang="en-IE" smtClean="0"/>
              <a:t>29/11/2025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F03E2-A2B4-4924-98B0-463F429108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1D44C-CC91-4EED-B22A-AF0AA69303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350F9B-6758-4641-AC7E-139CDBC2C4C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926248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128B10-01B1-489D-B962-DD80D2263B82}" type="datetimeFigureOut">
              <a:rPr lang="en-IE" smtClean="0"/>
              <a:pPr/>
              <a:t>29/11/2025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55FEB-D5E4-4A1E-87F4-37E283567B6E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9236517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86597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6821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8928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0096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50823-C5BB-5C50-D81F-0AC82E66F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8C3726-F47B-CFA5-3C67-C04A659293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0C4E46-445D-AB03-D96C-FE414C3AF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DC9B3-3775-3227-1EFF-414B0158B4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02239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9651D-BCFD-7B09-92A3-1A6F40956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296B91-716B-23AA-C81F-00A0DA342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591D6D-33AF-632B-89B7-E72DAA0DB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68BF4-C217-88DD-4F55-B20B9534DA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67825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03121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354319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10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460263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030345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83670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659024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86959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75000"/>
                    <a:lumOff val="2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 altLang="en-US" sz="2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1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0513" y="2876550"/>
            <a:ext cx="4787901" cy="301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6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4013200" cy="1822450"/>
          </a:xfrm>
        </p:spPr>
        <p:txBody>
          <a:bodyPr anchor="b"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  <a:endParaRPr lang="en-GB" altLang="en-US" noProof="0"/>
          </a:p>
        </p:txBody>
      </p:sp>
      <p:sp>
        <p:nvSpPr>
          <p:cNvPr id="32780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  <a:endParaRPr lang="en-GB" altLang="en-US" noProof="0"/>
          </a:p>
        </p:txBody>
      </p:sp>
      <p:sp>
        <p:nvSpPr>
          <p:cNvPr id="11" name="Date Placeholder 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0D53F2-6605-491B-A522-26FC2F4F9BCD}" type="datetime1">
              <a:rPr lang="en-US" smtClean="0"/>
              <a:t>11/29/2025</a:t>
            </a:fld>
            <a:endParaRPr lang="en-US"/>
          </a:p>
        </p:txBody>
      </p:sp>
      <p:sp>
        <p:nvSpPr>
          <p:cNvPr id="12" name="Footer Placeholder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3" name="Slide Number Placeholder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6200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4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5000"/>
            <a:ext cx="7693025" cy="4181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2CCA16-2DDB-40B9-9F54-A095905B077E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08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4DF457-5724-4B26-A4C4-59D64F3AB245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74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8800"/>
            <a:ext cx="3770313" cy="425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0913" y="1828800"/>
            <a:ext cx="3770312" cy="425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F1AC6-D369-4639-99E9-4FF457440EA0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2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CFB202-6EFB-4907-8D9D-680BD149527A}" type="datetime1">
              <a:rPr lang="en-US" smtClean="0"/>
              <a:t>11/29/2025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46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62A42C-DE72-47AA-BBAF-B081607E035C}" type="datetime1">
              <a:rPr lang="en-US" smtClean="0"/>
              <a:t>11/29/2025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05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5CFB85-5351-4D3E-B4CE-B0F17214F29F}" type="datetime1">
              <a:rPr lang="en-US" smtClean="0"/>
              <a:t>11/29/2025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93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A57C7F-E9A1-4E64-8A30-05C3992913B8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43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8E544F-E88E-4EB1-8D10-5091A0506034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37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DE2F5F-ADB1-4FC5-9086-0BE59847FEFA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7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762000"/>
            <a:ext cx="1981200" cy="5324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762000"/>
            <a:ext cx="5791200" cy="5324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0825EC-483B-45E9-8C22-E036CF677E1E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29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2" name="Group 3"/>
          <p:cNvGrpSpPr>
            <a:grpSpLocks/>
          </p:cNvGrpSpPr>
          <p:nvPr/>
        </p:nvGrpSpPr>
        <p:grpSpPr bwMode="auto">
          <a:xfrm>
            <a:off x="0" y="0"/>
            <a:ext cx="3200400" cy="6858000"/>
            <a:chOff x="0" y="0"/>
            <a:chExt cx="2016" cy="4320"/>
          </a:xfrm>
        </p:grpSpPr>
        <p:sp>
          <p:nvSpPr>
            <p:cNvPr id="1036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IE" altLang="en-US"/>
            </a:p>
          </p:txBody>
        </p:sp>
        <p:sp>
          <p:nvSpPr>
            <p:cNvPr id="1037" name="Freeform 5"/>
            <p:cNvSpPr>
              <a:spLocks/>
            </p:cNvSpPr>
            <p:nvPr/>
          </p:nvSpPr>
          <p:spPr bwMode="auto">
            <a:xfrm>
              <a:off x="288" y="0"/>
              <a:ext cx="1728" cy="735"/>
            </a:xfrm>
            <a:custGeom>
              <a:avLst/>
              <a:gdLst>
                <a:gd name="T0" fmla="*/ 1728 w 1728"/>
                <a:gd name="T1" fmla="*/ 0 h 735"/>
                <a:gd name="T2" fmla="*/ 1728 w 1728"/>
                <a:gd name="T3" fmla="*/ 480 h 735"/>
                <a:gd name="T4" fmla="*/ 380 w 1728"/>
                <a:gd name="T5" fmla="*/ 482 h 735"/>
                <a:gd name="T6" fmla="*/ 354 w 1728"/>
                <a:gd name="T7" fmla="*/ 480 h 735"/>
                <a:gd name="T8" fmla="*/ 308 w 1728"/>
                <a:gd name="T9" fmla="*/ 489 h 735"/>
                <a:gd name="T10" fmla="*/ 246 w 1728"/>
                <a:gd name="T11" fmla="*/ 531 h 735"/>
                <a:gd name="T12" fmla="*/ 206 w 1728"/>
                <a:gd name="T13" fmla="*/ 597 h 735"/>
                <a:gd name="T14" fmla="*/ 192 w 1728"/>
                <a:gd name="T15" fmla="*/ 666 h 735"/>
                <a:gd name="T16" fmla="*/ 192 w 1728"/>
                <a:gd name="T17" fmla="*/ 735 h 735"/>
                <a:gd name="T18" fmla="*/ 0 w 1728"/>
                <a:gd name="T19" fmla="*/ 735 h 735"/>
                <a:gd name="T20" fmla="*/ 0 w 1728"/>
                <a:gd name="T21" fmla="*/ 480 h 735"/>
                <a:gd name="T22" fmla="*/ 0 w 1728"/>
                <a:gd name="T23" fmla="*/ 0 h 735"/>
                <a:gd name="T24" fmla="*/ 1728 w 1728"/>
                <a:gd name="T25" fmla="*/ 0 h 73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8" h="735">
                  <a:moveTo>
                    <a:pt x="1728" y="0"/>
                  </a:moveTo>
                  <a:lnTo>
                    <a:pt x="1728" y="480"/>
                  </a:lnTo>
                  <a:lnTo>
                    <a:pt x="380" y="482"/>
                  </a:lnTo>
                  <a:lnTo>
                    <a:pt x="354" y="480"/>
                  </a:lnTo>
                  <a:lnTo>
                    <a:pt x="308" y="489"/>
                  </a:lnTo>
                  <a:cubicBezTo>
                    <a:pt x="290" y="498"/>
                    <a:pt x="263" y="513"/>
                    <a:pt x="246" y="531"/>
                  </a:cubicBezTo>
                  <a:cubicBezTo>
                    <a:pt x="229" y="549"/>
                    <a:pt x="215" y="574"/>
                    <a:pt x="206" y="597"/>
                  </a:cubicBezTo>
                  <a:cubicBezTo>
                    <a:pt x="197" y="620"/>
                    <a:pt x="194" y="643"/>
                    <a:pt x="192" y="666"/>
                  </a:cubicBezTo>
                  <a:lnTo>
                    <a:pt x="192" y="735"/>
                  </a:lnTo>
                  <a:lnTo>
                    <a:pt x="0" y="735"/>
                  </a:lnTo>
                  <a:lnTo>
                    <a:pt x="0" y="480"/>
                  </a:lnTo>
                  <a:lnTo>
                    <a:pt x="0" y="0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E"/>
            </a:p>
          </p:txBody>
        </p:sp>
      </p:grpSp>
      <p:sp>
        <p:nvSpPr>
          <p:cNvPr id="1027" name="AutoShape 9"/>
          <p:cNvSpPr>
            <a:spLocks noGrp="1" noChangeArrowheads="1"/>
          </p:cNvSpPr>
          <p:nvPr>
            <p:ph type="title"/>
          </p:nvPr>
        </p:nvSpPr>
        <p:spPr bwMode="auto">
          <a:xfrm>
            <a:off x="753035" y="200025"/>
            <a:ext cx="7924800" cy="1143000"/>
          </a:xfrm>
          <a:prstGeom prst="roundRect">
            <a:avLst>
              <a:gd name="adj" fmla="val 21667"/>
            </a:avLst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317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B2BBC70F-B5CB-4B78-BD55-A2A1CC49D82A}" type="datetime1">
              <a:rPr lang="en-US" smtClean="0"/>
              <a:t>11/29/2025</a:t>
            </a:fld>
            <a:endParaRPr lang="en-US"/>
          </a:p>
        </p:txBody>
      </p:sp>
      <p:sp>
        <p:nvSpPr>
          <p:cNvPr id="317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0"/>
            <a:ext cx="2897188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en-US"/>
          </a:p>
        </p:txBody>
      </p:sp>
      <p:sp>
        <p:nvSpPr>
          <p:cNvPr id="317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defRPr sz="2600" b="1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22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2895600"/>
            <a:ext cx="4572000" cy="2285999"/>
          </a:xfrm>
        </p:spPr>
        <p:txBody>
          <a:bodyPr>
            <a:normAutofit fontScale="70000" lnSpcReduction="20000"/>
          </a:bodyPr>
          <a:lstStyle/>
          <a:p>
            <a:r>
              <a:rPr lang="en-IE" sz="3400" dirty="0"/>
              <a:t>Karl Negrillo</a:t>
            </a:r>
          </a:p>
          <a:p>
            <a:r>
              <a:rPr lang="en-IE" sz="3400" dirty="0"/>
              <a:t>C22386123</a:t>
            </a:r>
          </a:p>
          <a:p>
            <a:r>
              <a:rPr lang="en-IE" sz="3400" dirty="0"/>
              <a:t>BSc Computer Science International</a:t>
            </a:r>
          </a:p>
          <a:p>
            <a:r>
              <a:rPr lang="en-IE" sz="3400" b="1" dirty="0"/>
              <a:t>Supervisor: </a:t>
            </a:r>
            <a:r>
              <a:rPr lang="en-IE" sz="3400" dirty="0"/>
              <a:t>Colette Kirwan</a:t>
            </a:r>
          </a:p>
          <a:p>
            <a:r>
              <a:rPr lang="en-IE" sz="4000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>
            <a:normAutofit/>
          </a:bodyPr>
          <a:lstStyle/>
          <a:p>
            <a:r>
              <a:rPr lang="en-IE" sz="4800" dirty="0"/>
              <a:t>Sign &amp; Spell VR</a:t>
            </a:r>
            <a:br>
              <a:rPr lang="en-IE" sz="6000" dirty="0"/>
            </a:br>
            <a:r>
              <a:rPr lang="en-IE" sz="1400" dirty="0"/>
              <a:t>Irish Sign Language Learning in Virtual Reality</a:t>
            </a:r>
            <a:endParaRPr lang="en-IE" sz="6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57D612-3BDA-478B-89A2-43A49EE67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72268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Project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VR app using hand tracking.</a:t>
            </a:r>
          </a:p>
          <a:p>
            <a:r>
              <a:rPr lang="en-IE" sz="2800" dirty="0"/>
              <a:t>Teaches Irish Sign Language alphabet, words, maybe even sentences.</a:t>
            </a:r>
          </a:p>
          <a:p>
            <a:r>
              <a:rPr lang="en-IE" dirty="0"/>
              <a:t>Meta Quest 3/3S with real-time feedback.</a:t>
            </a:r>
          </a:p>
          <a:p>
            <a:r>
              <a:rPr lang="en-IE" sz="2800" dirty="0"/>
              <a:t>Local Progress Tracking.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0AD8D-EB1B-4F83-9125-EC3B343C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85719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Background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1600" dirty="0"/>
              <a:t>Existing Solutions: ASL </a:t>
            </a:r>
            <a:r>
              <a:rPr lang="en-IE" sz="1600" dirty="0" err="1"/>
              <a:t>FingerSpeller</a:t>
            </a:r>
            <a:r>
              <a:rPr lang="en-IE" sz="1600" dirty="0"/>
              <a:t>, Silent Classroom VR</a:t>
            </a:r>
          </a:p>
          <a:p>
            <a:r>
              <a:rPr lang="en-IE" sz="1600" b="1" dirty="0"/>
              <a:t>Why Different:</a:t>
            </a:r>
          </a:p>
          <a:p>
            <a:pPr lvl="1"/>
            <a:r>
              <a:rPr lang="en-IE" sz="1600" b="1" dirty="0"/>
              <a:t>ISL Focus</a:t>
            </a:r>
          </a:p>
          <a:p>
            <a:pPr lvl="1"/>
            <a:r>
              <a:rPr lang="en-IE" sz="1600" b="1" dirty="0"/>
              <a:t>Common Words, in the future, sentence making</a:t>
            </a:r>
          </a:p>
          <a:p>
            <a:pPr lvl="1"/>
            <a:r>
              <a:rPr lang="en-IE" sz="1600" b="1" dirty="0"/>
              <a:t>VR Immersion</a:t>
            </a:r>
          </a:p>
          <a:p>
            <a:r>
              <a:rPr lang="en-IE" sz="1600" dirty="0"/>
              <a:t>Less Common than ASL – Fills a Gap</a:t>
            </a:r>
          </a:p>
          <a:p>
            <a:r>
              <a:rPr lang="en-GB" sz="1600" dirty="0"/>
              <a:t>Ethical Approach: Designed with Deaf community input, respects ISL cultural significance &amp; accuracy (vs avatars as substitute)</a:t>
            </a:r>
          </a:p>
          <a:p>
            <a:endParaRPr lang="en-IE" sz="20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321B27-4050-442D-99CE-3A934160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3200" dirty="0"/>
              <a:t>3</a:t>
            </a:r>
          </a:p>
        </p:txBody>
      </p:sp>
      <p:pic>
        <p:nvPicPr>
          <p:cNvPr id="1028" name="Picture 4" descr="ASL Fingerspeller on Quest 2">
            <a:extLst>
              <a:ext uri="{FF2B5EF4-FFF2-40B4-BE49-F238E27FC236}">
                <a16:creationId xmlns:a16="http://schemas.microsoft.com/office/drawing/2014/main" id="{CD596EEC-7F64-8986-F6E7-D3D74F774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589" y="4648200"/>
            <a:ext cx="3137408" cy="1764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creenshot">
            <a:extLst>
              <a:ext uri="{FF2B5EF4-FFF2-40B4-BE49-F238E27FC236}">
                <a16:creationId xmlns:a16="http://schemas.microsoft.com/office/drawing/2014/main" id="{1530997C-F734-041B-7D6F-8674572B4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648200"/>
            <a:ext cx="3137408" cy="1764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Methodology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1800" dirty="0"/>
              <a:t>Incremental Model</a:t>
            </a:r>
          </a:p>
          <a:p>
            <a:pPr lvl="1"/>
            <a:r>
              <a:rPr lang="en-IE" sz="1800" dirty="0"/>
              <a:t>Core Features: </a:t>
            </a:r>
          </a:p>
          <a:p>
            <a:pPr lvl="2"/>
            <a:r>
              <a:rPr lang="en-IE" sz="1800" b="1" dirty="0"/>
              <a:t>Increment 1: </a:t>
            </a:r>
            <a:r>
              <a:rPr lang="en-IE" sz="1800" dirty="0"/>
              <a:t>Real-Time Hand Tracking, recognition of basic ISL Letters, Real-Time Feedback</a:t>
            </a:r>
          </a:p>
          <a:p>
            <a:pPr lvl="2"/>
            <a:r>
              <a:rPr lang="en-IE" sz="1800" b="1" dirty="0"/>
              <a:t>Increment 2: </a:t>
            </a:r>
            <a:r>
              <a:rPr lang="en-IE" sz="1800" dirty="0"/>
              <a:t>Common</a:t>
            </a:r>
            <a:r>
              <a:rPr lang="en-IE" sz="1800" b="1" dirty="0"/>
              <a:t> </a:t>
            </a:r>
            <a:r>
              <a:rPr lang="en-IE" sz="1800" dirty="0"/>
              <a:t>Words, Common Sentences, Improve UI</a:t>
            </a:r>
          </a:p>
          <a:p>
            <a:pPr lvl="2"/>
            <a:r>
              <a:rPr lang="en-IE" sz="1800" b="1" dirty="0"/>
              <a:t>Increment 3: </a:t>
            </a:r>
            <a:r>
              <a:rPr lang="en-IE" sz="1800" dirty="0"/>
              <a:t>Data Saving</a:t>
            </a:r>
            <a:endParaRPr lang="en-IE" sz="18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8C606D-6BC2-428F-9187-FAC66256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3200" dirty="0"/>
              <a:t>4</a:t>
            </a:r>
          </a:p>
        </p:txBody>
      </p:sp>
      <p:pic>
        <p:nvPicPr>
          <p:cNvPr id="2050" name="Picture 2" descr="Incremental Model of Software Development Life Cycle – Custom Web &amp; Mobile  Development Company – New Line Technologies">
            <a:extLst>
              <a:ext uri="{FF2B5EF4-FFF2-40B4-BE49-F238E27FC236}">
                <a16:creationId xmlns:a16="http://schemas.microsoft.com/office/drawing/2014/main" id="{44285644-531F-6F58-E6A9-C2EB57D30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642" y="4241800"/>
            <a:ext cx="3769513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8BB39-17D0-320A-5F61-87678B1C8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071B14-575D-78FF-D7E1-88859C339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Technologies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F9EABB-BEB5-74A3-15F5-1D499F273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000" b="1" dirty="0"/>
              <a:t>Operating Systems(s): </a:t>
            </a:r>
            <a:r>
              <a:rPr lang="en-IE" sz="2000" dirty="0"/>
              <a:t>Meta Quest 3/3S (VR headset OS)</a:t>
            </a:r>
          </a:p>
          <a:p>
            <a:r>
              <a:rPr lang="en-IE" sz="2000" b="1" dirty="0"/>
              <a:t>Programming Language(s): </a:t>
            </a:r>
            <a:r>
              <a:rPr lang="en-IE" sz="2000" dirty="0" err="1"/>
              <a:t>GDScript</a:t>
            </a:r>
            <a:r>
              <a:rPr lang="en-IE" sz="2000" dirty="0"/>
              <a:t> </a:t>
            </a:r>
          </a:p>
          <a:p>
            <a:r>
              <a:rPr lang="en-IE" sz="2000" b="1" dirty="0"/>
              <a:t>XR Framework: </a:t>
            </a:r>
            <a:r>
              <a:rPr lang="en-IE" sz="2000" dirty="0" err="1"/>
              <a:t>OpenXR</a:t>
            </a:r>
            <a:endParaRPr lang="en-IE" sz="2000" dirty="0"/>
          </a:p>
          <a:p>
            <a:r>
              <a:rPr lang="en-IE" sz="2000" b="1" dirty="0"/>
              <a:t>Data Storage: </a:t>
            </a:r>
            <a:r>
              <a:rPr lang="en-IE" sz="2000" dirty="0"/>
              <a:t>JSON (local)</a:t>
            </a:r>
          </a:p>
          <a:p>
            <a:r>
              <a:rPr lang="en-IE" sz="2000" b="1" dirty="0"/>
              <a:t>Game Engine: </a:t>
            </a:r>
            <a:r>
              <a:rPr lang="en-IE" sz="2000" dirty="0"/>
              <a:t>Godot 4</a:t>
            </a:r>
            <a:endParaRPr lang="en-IE" sz="20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F5583F-66D1-1F56-1D7D-49ECCF975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3200" dirty="0"/>
              <a:t>5</a:t>
            </a:r>
          </a:p>
        </p:txBody>
      </p:sp>
      <p:pic>
        <p:nvPicPr>
          <p:cNvPr id="3078" name="Picture 6" descr="Godot Engine - YouTube">
            <a:extLst>
              <a:ext uri="{FF2B5EF4-FFF2-40B4-BE49-F238E27FC236}">
                <a16:creationId xmlns:a16="http://schemas.microsoft.com/office/drawing/2014/main" id="{0E5716F5-5E6F-E334-A962-BE74CF0F5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495" y="3774948"/>
            <a:ext cx="2467102" cy="246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Meta Quest 3 vs. Meta Quest 3S: Save Your Money or Upgrade Now? -  Comparison 2025 - PCMag UK">
            <a:extLst>
              <a:ext uri="{FF2B5EF4-FFF2-40B4-BE49-F238E27FC236}">
                <a16:creationId xmlns:a16="http://schemas.microsoft.com/office/drawing/2014/main" id="{CA4F64F5-8023-4C13-BF90-F4E60DE23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686" y="3774948"/>
            <a:ext cx="4385961" cy="2467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9632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30AAB-835D-AB48-AC98-5FB98A852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983E4-C84C-24E0-7213-9DDEE7E06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48431-7C4A-765B-091C-830414F4B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000" b="1" dirty="0"/>
              <a:t>Requirements</a:t>
            </a:r>
          </a:p>
          <a:p>
            <a:pPr lvl="1"/>
            <a:r>
              <a:rPr lang="en-IE" sz="1600" b="1" dirty="0"/>
              <a:t>Stakeholder Interviews: </a:t>
            </a:r>
            <a:r>
              <a:rPr lang="en-IE" sz="1600" dirty="0"/>
              <a:t>Learners, Deaf Community, Teachers</a:t>
            </a:r>
          </a:p>
          <a:p>
            <a:r>
              <a:rPr lang="en-IE" sz="2000" b="1" dirty="0"/>
              <a:t>Functional</a:t>
            </a:r>
          </a:p>
          <a:p>
            <a:pPr lvl="1"/>
            <a:r>
              <a:rPr lang="en-IE" sz="1600" dirty="0"/>
              <a:t>Hand Tracking, Sign Recognition, Feedback, Progress Storage</a:t>
            </a:r>
          </a:p>
          <a:p>
            <a:r>
              <a:rPr lang="en-IE" sz="2000" b="1" dirty="0"/>
              <a:t>Non-Functional</a:t>
            </a:r>
          </a:p>
          <a:p>
            <a:pPr lvl="1"/>
            <a:r>
              <a:rPr lang="en-IE" sz="1600" dirty="0"/>
              <a:t>Low Latency, accessible UI, intuitive design</a:t>
            </a:r>
          </a:p>
          <a:p>
            <a:r>
              <a:rPr lang="en-IE" sz="2000" b="1" dirty="0"/>
              <a:t>Use Case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9E4B0-1FAD-3FCB-BC03-AF6B8B955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pic>
        <p:nvPicPr>
          <p:cNvPr id="7" name="Picture 6" descr="A diagram of a company&#10;&#10;AI-generated content may be incorrect.">
            <a:extLst>
              <a:ext uri="{FF2B5EF4-FFF2-40B4-BE49-F238E27FC236}">
                <a16:creationId xmlns:a16="http://schemas.microsoft.com/office/drawing/2014/main" id="{136822B6-6DCA-1F34-6097-EE02C84396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229" y="4262052"/>
            <a:ext cx="5332412" cy="249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868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42045-829D-E172-3227-69942646B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4B1602-ACAE-DDD4-0B32-48722C6EC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035" y="200025"/>
            <a:ext cx="7924800" cy="1143000"/>
          </a:xfrm>
        </p:spPr>
        <p:txBody>
          <a:bodyPr wrap="square" anchor="b">
            <a:normAutofit/>
          </a:bodyPr>
          <a:lstStyle/>
          <a:p>
            <a:r>
              <a:rPr lang="en-IE" dirty="0"/>
              <a:t>Technical Architecture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7A5541-FA0E-066C-AFFD-0D700AE387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8800"/>
            <a:ext cx="3770313" cy="4257675"/>
          </a:xfrm>
        </p:spPr>
        <p:txBody>
          <a:bodyPr wrap="square" anchor="t">
            <a:normAutofit/>
          </a:bodyPr>
          <a:lstStyle/>
          <a:p>
            <a:r>
              <a:rPr lang="en-IE"/>
              <a:t>Standalone VR application on Meta Quest 3/3S</a:t>
            </a:r>
          </a:p>
          <a:p>
            <a:r>
              <a:rPr lang="en-GB"/>
              <a:t>Hand tracking → Recognition → Feedback → Storage</a:t>
            </a:r>
          </a:p>
          <a:p>
            <a:r>
              <a:rPr lang="en-IE"/>
              <a:t>Data Flow Diagram</a:t>
            </a:r>
          </a:p>
          <a:p>
            <a:endParaRPr lang="en-IE"/>
          </a:p>
        </p:txBody>
      </p:sp>
      <p:pic>
        <p:nvPicPr>
          <p:cNvPr id="7" name="Picture 6" descr="A diagram of a process&#10;&#10;AI-generated content may be incorrect.">
            <a:extLst>
              <a:ext uri="{FF2B5EF4-FFF2-40B4-BE49-F238E27FC236}">
                <a16:creationId xmlns:a16="http://schemas.microsoft.com/office/drawing/2014/main" id="{56297F23-0E7C-C012-91D6-233D757ED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234" y="1981200"/>
            <a:ext cx="4427837" cy="3276600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97382A-37B6-53FB-F7DE-9E16A3F8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38" y="6242050"/>
            <a:ext cx="587375" cy="48895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44078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Front End Design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dirty="0"/>
              <a:t>Simple VR room with floating ISL alphabet reference board.​</a:t>
            </a:r>
          </a:p>
          <a:p>
            <a:r>
              <a:rPr lang="en-GB" sz="1800" dirty="0"/>
              <a:t>Passthrough view shows user’s real room plus virtual ISL hands.</a:t>
            </a:r>
          </a:p>
          <a:p>
            <a:r>
              <a:rPr lang="en-GB" sz="1800" dirty="0"/>
              <a:t>Live virtual hands mirror the user’s hands for practice and feedback.</a:t>
            </a:r>
          </a:p>
          <a:p>
            <a:r>
              <a:rPr lang="en-GB" sz="1800" dirty="0"/>
              <a:t>On‑screen text shows detected letters for each hand in real time (e.g. “Left hand = A, Right hand = V”).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3B1A3-2139-4788-9A25-64DED03B6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3200" dirty="0"/>
              <a:t>8</a:t>
            </a:r>
          </a:p>
        </p:txBody>
      </p:sp>
      <p:pic>
        <p:nvPicPr>
          <p:cNvPr id="12" name="Picture 11" descr="A hand holding a sign&#10;&#10;AI-generated content may be incorrect.">
            <a:extLst>
              <a:ext uri="{FF2B5EF4-FFF2-40B4-BE49-F238E27FC236}">
                <a16:creationId xmlns:a16="http://schemas.microsoft.com/office/drawing/2014/main" id="{BA405105-E07C-ED43-DFD1-6B70464221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581400"/>
            <a:ext cx="2819400" cy="2756747"/>
          </a:xfrm>
          <a:prstGeom prst="rect">
            <a:avLst/>
          </a:prstGeom>
        </p:spPr>
      </p:pic>
      <p:pic>
        <p:nvPicPr>
          <p:cNvPr id="14" name="Picture 13" descr="A person holding a phone and using a computer&#10;&#10;AI-generated content may be incorrect.">
            <a:extLst>
              <a:ext uri="{FF2B5EF4-FFF2-40B4-BE49-F238E27FC236}">
                <a16:creationId xmlns:a16="http://schemas.microsoft.com/office/drawing/2014/main" id="{3BB0C157-FF47-960E-1D86-BDCF2A6741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50" y="3581400"/>
            <a:ext cx="2819400" cy="27784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Middle Tier Design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200" b="1" dirty="0"/>
              <a:t>Hand Pose Detection: </a:t>
            </a:r>
            <a:r>
              <a:rPr lang="en-GB" sz="2200" dirty="0"/>
              <a:t>OpenXR sensors detect finger positions in real-time</a:t>
            </a:r>
          </a:p>
          <a:p>
            <a:r>
              <a:rPr lang="en-GB" sz="2200" b="1" dirty="0"/>
              <a:t>Gesture Matching: </a:t>
            </a:r>
            <a:r>
              <a:rPr lang="en-GB" sz="2200" dirty="0"/>
              <a:t>Compare user hand pose to stored ISL sign database</a:t>
            </a:r>
          </a:p>
          <a:p>
            <a:r>
              <a:rPr lang="en-GB" sz="2200" b="1" dirty="0"/>
              <a:t>Confidence Validation: </a:t>
            </a:r>
            <a:r>
              <a:rPr lang="en-GB" sz="2200" dirty="0"/>
              <a:t>Check if pose matches threshold for correct/incorrect</a:t>
            </a:r>
          </a:p>
          <a:p>
            <a:r>
              <a:rPr lang="en-GB" sz="2200" b="1" dirty="0"/>
              <a:t>Real-time Feedback: </a:t>
            </a:r>
            <a:r>
              <a:rPr lang="en-GB" sz="2200" dirty="0"/>
              <a:t>Generate visual feedback (correct/try again) instantly</a:t>
            </a:r>
          </a:p>
          <a:p>
            <a:r>
              <a:rPr lang="en-GB" sz="2200" b="1" dirty="0"/>
              <a:t>Rule-based recognition: </a:t>
            </a:r>
            <a:r>
              <a:rPr lang="en-GB" sz="2200" dirty="0"/>
              <a:t>simpler, faster setup</a:t>
            </a:r>
          </a:p>
          <a:p>
            <a:endParaRPr lang="en-IE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5EFD2-690F-416A-90A7-FB126B5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3200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Back End Design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Local JSON files store user calibration, progress, and settings on the Quest headset.​</a:t>
            </a:r>
          </a:p>
          <a:p>
            <a:r>
              <a:rPr lang="en-GB" dirty="0"/>
              <a:t>One JSON structure per learner: user info, hand‑pose calibration, learned alphabet letters, and simple stats.​</a:t>
            </a:r>
          </a:p>
          <a:p>
            <a:r>
              <a:rPr lang="en-GB" dirty="0"/>
              <a:t>Accessed through Godot 4’s </a:t>
            </a:r>
            <a:r>
              <a:rPr lang="en-GB" dirty="0" err="1"/>
              <a:t>FileAccess</a:t>
            </a:r>
            <a:r>
              <a:rPr lang="en-GB" dirty="0"/>
              <a:t> API in the user data path (no external DB).​</a:t>
            </a:r>
          </a:p>
          <a:p>
            <a:r>
              <a:rPr lang="en-GB" dirty="0"/>
              <a:t>Designed so the same JSON can later be sent to a cloud service for sync without changing the data model.​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845D3-860B-4B16-9814-4CAE01C38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3200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DEMO HERE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E" sz="4800" dirty="0"/>
          </a:p>
          <a:p>
            <a:r>
              <a:rPr lang="en-IE" sz="4800" dirty="0"/>
              <a:t>DEMO HERE</a:t>
            </a:r>
          </a:p>
          <a:p>
            <a:pPr marL="0" indent="0">
              <a:buNone/>
            </a:pPr>
            <a:endParaRPr lang="en-IE" sz="4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B0CF0-69F7-41D7-8F4E-189973F9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3200" dirty="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Evaluation Criteria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“A”, “V”, and “D” is readable from hand-tracking on both hands.</a:t>
            </a:r>
          </a:p>
          <a:p>
            <a:r>
              <a:rPr lang="en-IE" sz="2800" dirty="0"/>
              <a:t>Feedback works when user </a:t>
            </a:r>
            <a:r>
              <a:rPr lang="en-IE" dirty="0"/>
              <a:t>signs “A”, “V”, and “D”, shows Left Hand = “A”/”V”/”D” and Right Hand = “A”/”V”/”D” </a:t>
            </a:r>
          </a:p>
          <a:p>
            <a:r>
              <a:rPr lang="en-GB" dirty="0"/>
              <a:t>User can complete a short practice session (A, V, D) without confusion or crashes.</a:t>
            </a:r>
            <a:endParaRPr lang="en-IE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B0CF0-69F7-41D7-8F4E-189973F9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3200" smtClean="0"/>
              <a:pPr/>
              <a:t>12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71751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Future Work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000" dirty="0"/>
              <a:t>Increment 2 (Immediate):</a:t>
            </a:r>
          </a:p>
          <a:p>
            <a:pPr lvl="1"/>
            <a:r>
              <a:rPr lang="en-IE" sz="2000" dirty="0"/>
              <a:t>Complete remaining alphabet letters A-Z</a:t>
            </a:r>
          </a:p>
          <a:p>
            <a:pPr lvl="1"/>
            <a:r>
              <a:rPr lang="en-IE" sz="2000" dirty="0"/>
              <a:t>Better Visualisation of the UI Environment</a:t>
            </a:r>
          </a:p>
          <a:p>
            <a:r>
              <a:rPr lang="en-IE" sz="2000" dirty="0"/>
              <a:t>Increment 2 (Christmas):</a:t>
            </a:r>
          </a:p>
          <a:p>
            <a:pPr lvl="1"/>
            <a:r>
              <a:rPr lang="en-IE" sz="2000" dirty="0"/>
              <a:t>Implementing User Account Creation and Hand Calibration</a:t>
            </a:r>
          </a:p>
          <a:p>
            <a:pPr lvl="1"/>
            <a:r>
              <a:rPr lang="en-IE" sz="2000" dirty="0"/>
              <a:t>Implementing Common Words</a:t>
            </a:r>
          </a:p>
          <a:p>
            <a:r>
              <a:rPr lang="en-GB" sz="2000" dirty="0"/>
              <a:t>Increment 3 (Post-exams: Late Jan–Late Feb):</a:t>
            </a:r>
          </a:p>
          <a:p>
            <a:pPr lvl="1"/>
            <a:r>
              <a:rPr lang="en-GB" sz="2000" dirty="0"/>
              <a:t>Local Data Saving</a:t>
            </a:r>
          </a:p>
          <a:p>
            <a:pPr lvl="1"/>
            <a:r>
              <a:rPr lang="en-GB" sz="2000" dirty="0"/>
              <a:t>Test Page</a:t>
            </a:r>
          </a:p>
          <a:p>
            <a:pPr lvl="1"/>
            <a:r>
              <a:rPr lang="en-GB" sz="2000" dirty="0"/>
              <a:t>User testing &amp; refinement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F288E-5052-4564-92DB-EA28C179D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3200" smtClean="0"/>
              <a:pPr/>
              <a:t>13</a:t>
            </a:fld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4400" b="1" dirty="0"/>
              <a:t>Thank you!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ctr">
              <a:buNone/>
            </a:pPr>
            <a:endParaRPr lang="en-IE" sz="6000" b="1" dirty="0"/>
          </a:p>
          <a:p>
            <a:pPr algn="ctr">
              <a:buNone/>
            </a:pPr>
            <a:r>
              <a:rPr lang="en-IE" sz="6000" b="1" dirty="0">
                <a:solidFill>
                  <a:srgbClr val="FF0000"/>
                </a:solidFill>
              </a:rPr>
              <a:t>?</a:t>
            </a:r>
          </a:p>
          <a:p>
            <a:pPr algn="ctr">
              <a:buNone/>
            </a:pPr>
            <a:r>
              <a:rPr lang="en-IE" sz="6000" b="1" dirty="0"/>
              <a:t>Questions</a:t>
            </a:r>
          </a:p>
          <a:p>
            <a:pPr algn="ctr">
              <a:buNone/>
            </a:pPr>
            <a:r>
              <a:rPr lang="en-IE" sz="60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D8A318-D7FA-4F41-817A-AE7587DE0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3200" smtClean="0"/>
              <a:pPr/>
              <a:t>14</a:t>
            </a:fld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t249 hdp">
  <a:themeElements>
    <a:clrScheme name="Custom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33CCCC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t249 hdp" id="{B2D366DE-A7C3-47B7-8728-22E4F28179ED}" vid="{FC4E48D8-D856-40E5-A18A-0681BF8403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dt249 hdp</Template>
  <TotalTime>372</TotalTime>
  <Words>609</Words>
  <Application>Microsoft Office PowerPoint</Application>
  <PresentationFormat>On-screen Show (4:3)</PresentationFormat>
  <Paragraphs>109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dt249 hdp</vt:lpstr>
      <vt:lpstr>Sign &amp; Spell VR Irish Sign Language Learning in Virtual Reality</vt:lpstr>
      <vt:lpstr>Project</vt:lpstr>
      <vt:lpstr>Background</vt:lpstr>
      <vt:lpstr>Methodology</vt:lpstr>
      <vt:lpstr>Technologies</vt:lpstr>
      <vt:lpstr>System Requirements</vt:lpstr>
      <vt:lpstr>Technical Architecture</vt:lpstr>
      <vt:lpstr>Front End Design</vt:lpstr>
      <vt:lpstr>Middle Tier Design</vt:lpstr>
      <vt:lpstr>Back End Design</vt:lpstr>
      <vt:lpstr>DEMO HERE</vt:lpstr>
      <vt:lpstr>Evaluation Criteria</vt:lpstr>
      <vt:lpstr>Future Work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&lt;Project Title&gt;</dc:title>
  <dc:creator>Ciaran Kelly</dc:creator>
  <cp:lastModifiedBy>C22386123 Karl Negrillo</cp:lastModifiedBy>
  <cp:revision>32</cp:revision>
  <dcterms:created xsi:type="dcterms:W3CDTF">2006-08-16T00:00:00Z</dcterms:created>
  <dcterms:modified xsi:type="dcterms:W3CDTF">2025-11-30T02:36:57Z</dcterms:modified>
</cp:coreProperties>
</file>